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351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899954"/>
          </a:xfrm>
          <a:prstGeom prst="rect">
            <a:avLst/>
          </a:prstGeom>
          <a:solidFill>
            <a:srgbClr val="0D47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物料领</a:t>
            </a:r>
            <a:r>
              <a:rPr lang="zh-CN" alt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料</a:t>
            </a:r>
            <a:r>
              <a:rPr lang="en-US" sz="4000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看板系统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3F2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Pickup Kanban System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378823" y="291301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BC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生产物料补充闭环管理培训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0D47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 Group | </a:t>
            </a:r>
            <a:r>
              <a:rPr lang="en-US" sz="12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物料领取看板系统</a:t>
            </a: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1B0FDC-7806-A1F9-7F51-A55F9D5EF6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316230"/>
            <a:ext cx="1352550" cy="1238250"/>
          </a:xfrm>
          <a:prstGeom prst="rect">
            <a:avLst/>
          </a:prstGeom>
        </p:spPr>
      </p:pic>
      <p:sp>
        <p:nvSpPr>
          <p:cNvPr id="13" name="Text 3">
            <a:extLst>
              <a:ext uri="{FF2B5EF4-FFF2-40B4-BE49-F238E27FC236}">
                <a16:creationId xmlns:a16="http://schemas.microsoft.com/office/drawing/2014/main" id="{4C610802-83C7-A42B-2726-0129D4909ECB}"/>
              </a:ext>
            </a:extLst>
          </p:cNvPr>
          <p:cNvSpPr/>
          <p:nvPr/>
        </p:nvSpPr>
        <p:spPr>
          <a:xfrm>
            <a:off x="333103" y="3331029"/>
            <a:ext cx="8229600" cy="33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400" dirty="0">
                <a:solidFill>
                  <a:schemeClr val="bg1"/>
                </a:solidFill>
              </a:rPr>
              <a:t>Jason Pang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7160"/>
            <a:ext cx="4572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目录 / Agenda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107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57200" y="1010740"/>
            <a:ext cx="54864" cy="64008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31520" y="10107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73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463040" y="10564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系统开发背景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63040" y="13582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为什么需要这个系统？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147900"/>
            <a:ext cx="365760" cy="3657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57200" y="17879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57200" y="1787980"/>
            <a:ext cx="54864" cy="64008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731520" y="17879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73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1463040" y="18337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物料补充闭环管理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463040" y="21354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如何实现端到端闭环？</a:t>
            </a:r>
            <a:endParaRPr lang="en-US" sz="11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25140"/>
            <a:ext cx="365760" cy="36576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57200" y="25652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457200" y="2565220"/>
            <a:ext cx="54864" cy="64008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731520" y="25652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73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1463040" y="26109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系统功能介绍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1463040" y="29126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核心功能模块详解</a:t>
            </a:r>
            <a:endParaRPr lang="en-US" sz="11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2702380"/>
            <a:ext cx="365760" cy="36576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57200" y="33424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457200" y="3342460"/>
            <a:ext cx="54864" cy="64008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731520" y="33424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73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1463040" y="33881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两种发料方式对比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1463040" y="36899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按需物料 vs 最小包装</a:t>
            </a:r>
            <a:endParaRPr lang="en-US" sz="110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3479620"/>
            <a:ext cx="365760" cy="36576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457200" y="41197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457200" y="4119700"/>
            <a:ext cx="54864" cy="64008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5"/>
          <p:cNvSpPr/>
          <p:nvPr/>
        </p:nvSpPr>
        <p:spPr>
          <a:xfrm>
            <a:off x="731520" y="41197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73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33" name="Text 26"/>
          <p:cNvSpPr/>
          <p:nvPr/>
        </p:nvSpPr>
        <p:spPr>
          <a:xfrm>
            <a:off x="1463040" y="41654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操作流程演示</a:t>
            </a:r>
            <a:endParaRPr lang="en-US" sz="1600" dirty="0"/>
          </a:p>
        </p:txBody>
      </p:sp>
      <p:sp>
        <p:nvSpPr>
          <p:cNvPr id="34" name="Text 27"/>
          <p:cNvSpPr/>
          <p:nvPr/>
        </p:nvSpPr>
        <p:spPr>
          <a:xfrm>
            <a:off x="1463040" y="44671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如何上手使用</a:t>
            </a:r>
            <a:endParaRPr lang="en-US" sz="11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256860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7160"/>
            <a:ext cx="4572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系统开发背景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为什么需要物料领取看板系统？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65760" y="1645920"/>
            <a:ext cx="27432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65760" y="1645920"/>
            <a:ext cx="2743200" cy="54864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192024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传统模式痛点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8640" y="31089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100" dirty="0">
                <a:solidFill>
                  <a:srgbClr val="3341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在</a:t>
            </a:r>
            <a:r>
              <a:rPr lang="en-US" altLang="zh-CN" sz="1100" dirty="0">
                <a:solidFill>
                  <a:srgbClr val="3341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SharePoint Excel </a:t>
            </a:r>
            <a:r>
              <a:rPr lang="zh-CN" altLang="en-US" sz="1100" dirty="0">
                <a:solidFill>
                  <a:srgbClr val="3341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文档，无法实时查询物料库存量</a:t>
            </a:r>
            <a:endParaRPr lang="en-US" sz="1100" dirty="0">
              <a:solidFill>
                <a:srgbClr val="33415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3200400" y="1645920"/>
            <a:ext cx="27432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200400" y="1645920"/>
            <a:ext cx="2743200" cy="54864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920240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8328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仓库管理被动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383280" y="31089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仓库无法提前知道备料需求，只能被动响应，备料效率低，影响生产进度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035040" y="1645920"/>
            <a:ext cx="27432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035040" y="1645920"/>
            <a:ext cx="2743200" cy="54864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1920240"/>
            <a:ext cx="640080" cy="6400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21792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信息断点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217920" y="31089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纸本记录不便于查询申请状况，很难数据追溯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7160"/>
            <a:ext cx="4572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物料补充闭环管理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从需求提出到物料发放的完整闭环流程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56032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BCD4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43484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BCD4"/>
                </a:solidFill>
              </a:rPr>
              <a:t>→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7665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BCD4"/>
                </a:solidFill>
              </a:rPr>
              <a:t>→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274320" y="1645920"/>
            <a:ext cx="20116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74320" y="1645920"/>
            <a:ext cx="201168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92024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576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创建申请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65760" y="310896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领料员在线提交物料申请，关联工单和物料信息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560320" y="1645920"/>
            <a:ext cx="20116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2560320" y="1645920"/>
            <a:ext cx="201168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120" y="1920240"/>
            <a:ext cx="640080" cy="6400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65176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主管审批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2651760" y="310896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主管线上审批确认，系统自动发送邮件通知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846320" y="1645920"/>
            <a:ext cx="20116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846320" y="1645920"/>
            <a:ext cx="201168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1920240"/>
            <a:ext cx="640080" cy="6400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93776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仓库备料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4937760" y="310896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仓库人员接收任务，按订单备料、分配批次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32320" y="1645920"/>
            <a:ext cx="20116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7132320" y="1645920"/>
            <a:ext cx="201168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0" y="1920240"/>
            <a:ext cx="640080" cy="64008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22376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领取确认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223760" y="310896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领料员到仓库签字确认领料，完成闭环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457200" y="4663440"/>
            <a:ext cx="8229600" cy="137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1B1CF73E-D9BE-971D-D673-A6D61B424D61}"/>
              </a:ext>
            </a:extLst>
          </p:cNvPr>
          <p:cNvSpPr/>
          <p:nvPr/>
        </p:nvSpPr>
        <p:spPr>
          <a:xfrm>
            <a:off x="2148840" y="1874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BCD4"/>
                </a:solidFill>
              </a:rPr>
              <a:t>→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7160"/>
            <a:ext cx="4572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核心功能介绍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D78D87B-8E1A-5B53-9623-88CB9302E334}"/>
              </a:ext>
            </a:extLst>
          </p:cNvPr>
          <p:cNvGrpSpPr/>
          <p:nvPr/>
        </p:nvGrpSpPr>
        <p:grpSpPr>
          <a:xfrm>
            <a:off x="184379" y="1097280"/>
            <a:ext cx="2592977" cy="1474470"/>
            <a:chOff x="274320" y="1097280"/>
            <a:chExt cx="2788920" cy="1554480"/>
          </a:xfrm>
        </p:grpSpPr>
        <p:sp>
          <p:nvSpPr>
            <p:cNvPr id="6" name="Shape 3"/>
            <p:cNvSpPr/>
            <p:nvPr/>
          </p:nvSpPr>
          <p:spPr>
            <a:xfrm>
              <a:off x="274320" y="1097280"/>
              <a:ext cx="2788920" cy="1554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162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1480" y="1234440"/>
              <a:ext cx="457200" cy="457200"/>
            </a:xfrm>
            <a:prstGeom prst="rect">
              <a:avLst/>
            </a:prstGeom>
          </p:spPr>
        </p:pic>
        <p:sp>
          <p:nvSpPr>
            <p:cNvPr id="8" name="Text 4"/>
            <p:cNvSpPr/>
            <p:nvPr/>
          </p:nvSpPr>
          <p:spPr>
            <a:xfrm>
              <a:off x="1005840" y="1234440"/>
              <a:ext cx="19202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看板视图</a:t>
              </a:r>
              <a:endParaRPr lang="en-US" sz="1400" dirty="0"/>
            </a:p>
          </p:txBody>
        </p:sp>
        <p:sp>
          <p:nvSpPr>
            <p:cNvPr id="9" name="Text 5"/>
            <p:cNvSpPr/>
            <p:nvPr/>
          </p:nvSpPr>
          <p:spPr>
            <a:xfrm>
              <a:off x="411480" y="1819142"/>
              <a:ext cx="25146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33415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实时状态看板，按状态分组显示所有工单，一目了然</a:t>
              </a:r>
              <a:endParaRPr lang="en-US" sz="110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383BCD2-5CCD-5CDE-E03E-0053F7BBB242}"/>
              </a:ext>
            </a:extLst>
          </p:cNvPr>
          <p:cNvGrpSpPr/>
          <p:nvPr/>
        </p:nvGrpSpPr>
        <p:grpSpPr>
          <a:xfrm>
            <a:off x="3164210" y="1104003"/>
            <a:ext cx="2615569" cy="1552175"/>
            <a:chOff x="3200400" y="1097280"/>
            <a:chExt cx="2788920" cy="1554480"/>
          </a:xfrm>
        </p:grpSpPr>
        <p:sp>
          <p:nvSpPr>
            <p:cNvPr id="10" name="Shape 6"/>
            <p:cNvSpPr/>
            <p:nvPr/>
          </p:nvSpPr>
          <p:spPr>
            <a:xfrm>
              <a:off x="3200400" y="1097280"/>
              <a:ext cx="2788920" cy="1554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162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pic>
          <p:nvPicPr>
            <p:cNvPr id="11" name="Image 2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37560" y="1234440"/>
              <a:ext cx="457200" cy="457200"/>
            </a:xfrm>
            <a:prstGeom prst="rect">
              <a:avLst/>
            </a:prstGeom>
          </p:spPr>
        </p:pic>
        <p:sp>
          <p:nvSpPr>
            <p:cNvPr id="12" name="Text 7"/>
            <p:cNvSpPr/>
            <p:nvPr/>
          </p:nvSpPr>
          <p:spPr>
            <a:xfrm>
              <a:off x="3931920" y="1234440"/>
              <a:ext cx="19202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双模申请</a:t>
              </a:r>
              <a:endParaRPr lang="en-US" sz="1400" dirty="0"/>
            </a:p>
          </p:txBody>
        </p:sp>
        <p:sp>
          <p:nvSpPr>
            <p:cNvPr id="13" name="Text 8"/>
            <p:cNvSpPr/>
            <p:nvPr/>
          </p:nvSpPr>
          <p:spPr>
            <a:xfrm>
              <a:off x="3337560" y="1737360"/>
              <a:ext cx="25146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33415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支持按需物料申请和最小包装申请两种模式</a:t>
              </a:r>
              <a:endParaRPr lang="en-US" sz="110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9677647-23C0-695B-7E2A-A2DA28CBD994}"/>
              </a:ext>
            </a:extLst>
          </p:cNvPr>
          <p:cNvGrpSpPr/>
          <p:nvPr/>
        </p:nvGrpSpPr>
        <p:grpSpPr>
          <a:xfrm>
            <a:off x="5979791" y="1104002"/>
            <a:ext cx="2615569" cy="1552175"/>
            <a:chOff x="6126480" y="1104367"/>
            <a:chExt cx="2788920" cy="1636402"/>
          </a:xfrm>
        </p:grpSpPr>
        <p:sp>
          <p:nvSpPr>
            <p:cNvPr id="14" name="Shape 9"/>
            <p:cNvSpPr/>
            <p:nvPr/>
          </p:nvSpPr>
          <p:spPr>
            <a:xfrm>
              <a:off x="6126480" y="1104367"/>
              <a:ext cx="2788920" cy="163640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162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pic>
          <p:nvPicPr>
            <p:cNvPr id="15" name="Image 3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63640" y="1234440"/>
              <a:ext cx="457200" cy="457200"/>
            </a:xfrm>
            <a:prstGeom prst="rect">
              <a:avLst/>
            </a:prstGeom>
          </p:spPr>
        </p:pic>
        <p:sp>
          <p:nvSpPr>
            <p:cNvPr id="16" name="Text 10"/>
            <p:cNvSpPr/>
            <p:nvPr/>
          </p:nvSpPr>
          <p:spPr>
            <a:xfrm>
              <a:off x="6858000" y="1234440"/>
              <a:ext cx="19202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物料验证</a:t>
              </a:r>
              <a:endParaRPr lang="en-US" sz="1400" dirty="0"/>
            </a:p>
          </p:txBody>
        </p:sp>
        <p:sp>
          <p:nvSpPr>
            <p:cNvPr id="17" name="Text 11"/>
            <p:cNvSpPr/>
            <p:nvPr/>
          </p:nvSpPr>
          <p:spPr>
            <a:xfrm>
              <a:off x="6263640" y="1927651"/>
              <a:ext cx="25146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33415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对接CSI/ERP系统，实时验证工单和物料有效性</a:t>
              </a:r>
              <a:endParaRPr lang="en-US" sz="1100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41E1197-BEE4-A8C6-2CD3-DE0D9E29054D}"/>
              </a:ext>
            </a:extLst>
          </p:cNvPr>
          <p:cNvGrpSpPr/>
          <p:nvPr/>
        </p:nvGrpSpPr>
        <p:grpSpPr>
          <a:xfrm>
            <a:off x="184379" y="2966085"/>
            <a:ext cx="2592977" cy="1474470"/>
            <a:chOff x="274320" y="2926080"/>
            <a:chExt cx="2788920" cy="1554480"/>
          </a:xfrm>
        </p:grpSpPr>
        <p:sp>
          <p:nvSpPr>
            <p:cNvPr id="18" name="Shape 12"/>
            <p:cNvSpPr/>
            <p:nvPr/>
          </p:nvSpPr>
          <p:spPr>
            <a:xfrm>
              <a:off x="274320" y="2926080"/>
              <a:ext cx="2788920" cy="1554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162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pic>
          <p:nvPicPr>
            <p:cNvPr id="19" name="Image 4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11480" y="3063240"/>
              <a:ext cx="457200" cy="457200"/>
            </a:xfrm>
            <a:prstGeom prst="rect">
              <a:avLst/>
            </a:prstGeom>
          </p:spPr>
        </p:pic>
        <p:sp>
          <p:nvSpPr>
            <p:cNvPr id="20" name="Text 13"/>
            <p:cNvSpPr/>
            <p:nvPr/>
          </p:nvSpPr>
          <p:spPr>
            <a:xfrm>
              <a:off x="1005840" y="3063240"/>
              <a:ext cx="19202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邮件审批</a:t>
              </a:r>
              <a:endParaRPr lang="en-US" sz="1400" dirty="0"/>
            </a:p>
          </p:txBody>
        </p:sp>
        <p:sp>
          <p:nvSpPr>
            <p:cNvPr id="21" name="Text 14"/>
            <p:cNvSpPr/>
            <p:nvPr/>
          </p:nvSpPr>
          <p:spPr>
            <a:xfrm>
              <a:off x="411480" y="3566160"/>
              <a:ext cx="25146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33415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审批人通过邮件即可完成审批，无需登录系统</a:t>
              </a:r>
              <a:endParaRPr lang="en-US" sz="110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DD05C4A-4F96-D421-1B89-36632DAF1477}"/>
              </a:ext>
            </a:extLst>
          </p:cNvPr>
          <p:cNvGrpSpPr/>
          <p:nvPr/>
        </p:nvGrpSpPr>
        <p:grpSpPr>
          <a:xfrm>
            <a:off x="3164210" y="2966085"/>
            <a:ext cx="2615569" cy="1474470"/>
            <a:chOff x="3200400" y="2926080"/>
            <a:chExt cx="2788920" cy="1554480"/>
          </a:xfrm>
        </p:grpSpPr>
        <p:sp>
          <p:nvSpPr>
            <p:cNvPr id="22" name="Shape 15"/>
            <p:cNvSpPr/>
            <p:nvPr/>
          </p:nvSpPr>
          <p:spPr>
            <a:xfrm>
              <a:off x="3200400" y="2926080"/>
              <a:ext cx="2788920" cy="1554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162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pic>
          <p:nvPicPr>
            <p:cNvPr id="23" name="Image 5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337560" y="3063240"/>
              <a:ext cx="457200" cy="457200"/>
            </a:xfrm>
            <a:prstGeom prst="rect">
              <a:avLst/>
            </a:prstGeom>
          </p:spPr>
        </p:pic>
        <p:sp>
          <p:nvSpPr>
            <p:cNvPr id="24" name="Text 16"/>
            <p:cNvSpPr/>
            <p:nvPr/>
          </p:nvSpPr>
          <p:spPr>
            <a:xfrm>
              <a:off x="3931920" y="3063240"/>
              <a:ext cx="19202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仓库管理</a:t>
              </a:r>
              <a:endParaRPr lang="en-US" sz="1400" dirty="0"/>
            </a:p>
          </p:txBody>
        </p:sp>
        <p:sp>
          <p:nvSpPr>
            <p:cNvPr id="25" name="Text 17"/>
            <p:cNvSpPr/>
            <p:nvPr/>
          </p:nvSpPr>
          <p:spPr>
            <a:xfrm>
              <a:off x="3337560" y="3566160"/>
              <a:ext cx="25146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33415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备料任务管理、</a:t>
              </a:r>
              <a:r>
                <a:rPr lang="en-US" sz="1100" dirty="0">
                  <a:solidFill>
                    <a:srgbClr val="33415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批次号分配</a:t>
              </a:r>
              <a:r>
                <a:rPr lang="en-US" sz="800" dirty="0">
                  <a:solidFill>
                    <a:srgbClr val="33415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、缺料登记全流程支持</a:t>
              </a:r>
              <a:endParaRPr lang="en-US" sz="8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9BC2CBD-594C-16FF-765F-FACB3B5B1D7B}"/>
              </a:ext>
            </a:extLst>
          </p:cNvPr>
          <p:cNvGrpSpPr/>
          <p:nvPr/>
        </p:nvGrpSpPr>
        <p:grpSpPr>
          <a:xfrm>
            <a:off x="5979791" y="2961714"/>
            <a:ext cx="2615569" cy="1474471"/>
            <a:chOff x="6126480" y="2926080"/>
            <a:chExt cx="2788920" cy="1554480"/>
          </a:xfrm>
        </p:grpSpPr>
        <p:sp>
          <p:nvSpPr>
            <p:cNvPr id="26" name="Shape 18"/>
            <p:cNvSpPr/>
            <p:nvPr/>
          </p:nvSpPr>
          <p:spPr>
            <a:xfrm>
              <a:off x="6126480" y="2926080"/>
              <a:ext cx="2788920" cy="1554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162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pic>
          <p:nvPicPr>
            <p:cNvPr id="27" name="Image 6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263640" y="3063240"/>
              <a:ext cx="457200" cy="457200"/>
            </a:xfrm>
            <a:prstGeom prst="rect">
              <a:avLst/>
            </a:prstGeom>
          </p:spPr>
        </p:pic>
        <p:sp>
          <p:nvSpPr>
            <p:cNvPr id="28" name="Text 19"/>
            <p:cNvSpPr/>
            <p:nvPr/>
          </p:nvSpPr>
          <p:spPr>
            <a:xfrm>
              <a:off x="6858000" y="3063240"/>
              <a:ext cx="19202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记录查询</a:t>
              </a:r>
              <a:endParaRPr lang="en-US" sz="1400" dirty="0"/>
            </a:p>
          </p:txBody>
        </p:sp>
        <p:sp>
          <p:nvSpPr>
            <p:cNvPr id="29" name="Text 20"/>
            <p:cNvSpPr/>
            <p:nvPr/>
          </p:nvSpPr>
          <p:spPr>
            <a:xfrm>
              <a:off x="6263640" y="3566160"/>
              <a:ext cx="25146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33415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历史记录检索、CSV导出，方便数据追溯和分析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BC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7160"/>
            <a:ext cx="4572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系统亮点功能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0BC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57200" y="1188720"/>
            <a:ext cx="54864" cy="777240"/>
          </a:xfrm>
          <a:prstGeom prst="rect">
            <a:avLst/>
          </a:prstGeom>
          <a:solidFill>
            <a:srgbClr val="00BC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3258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中英文双语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371600" y="15727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系统支持中英文界面一键切换，适应国际化团队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54864" cy="777240"/>
          </a:xfrm>
          <a:prstGeom prst="rect">
            <a:avLst/>
          </a:prstGeom>
          <a:solidFill>
            <a:srgbClr val="00BC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2860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AD域认证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371600" y="253288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集成公司LDAP/AD认证，无需维护独立账号密码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457200" y="3108960"/>
            <a:ext cx="54864" cy="777240"/>
          </a:xfrm>
          <a:prstGeom prst="rect">
            <a:avLst/>
          </a:prstGeom>
          <a:solidFill>
            <a:srgbClr val="00BC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24612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FIFO批次管理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371600" y="349300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系统自动按先进先出原则推荐批次号，提升库存周转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57200" y="40690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457200" y="4069080"/>
            <a:ext cx="54864" cy="777240"/>
          </a:xfrm>
          <a:prstGeom prst="rect">
            <a:avLst/>
          </a:prstGeom>
          <a:solidFill>
            <a:srgbClr val="00BC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206240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37160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急料优先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1371600" y="445312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支持标记急料，看板自动排序，急料申请优先展示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7160"/>
            <a:ext cx="4572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发料方式对比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按需物料申请  vs  最小包装发料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1554480"/>
            <a:ext cx="3840480" cy="50292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按需物料申请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365760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工单关联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80" y="25146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必须关联生产工单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2761488"/>
            <a:ext cx="3291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28346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审批流程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3063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主管审批 → 才能备料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3310128"/>
            <a:ext cx="3291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0080" y="33832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补料原因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611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支持报废/不良/来料不足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3858768"/>
            <a:ext cx="3291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39319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适用场景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生产线按需补充物料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0" y="1554480"/>
            <a:ext cx="3840480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57200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最小包装发料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637314" y="2197826"/>
            <a:ext cx="365760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754880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工单关联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754880" y="25146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无需关联工单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754880" y="2761488"/>
            <a:ext cx="3291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754880" y="28346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审批流程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754880" y="3063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无需审批，直达备料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754880" y="3310128"/>
            <a:ext cx="3291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754880" y="33832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发料标记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754880" y="3611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物料（最小包装</a:t>
            </a: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858768"/>
            <a:ext cx="32918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4754880" y="39319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适用场景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754880" y="41605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通用物料、最小包装发放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160520" y="301752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160520" y="3024051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7160"/>
            <a:ext cx="4572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操作流程概览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1280160"/>
            <a:ext cx="20116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74320" y="1280160"/>
            <a:ext cx="20116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463040"/>
            <a:ext cx="640080" cy="640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6576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登录系统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365760" y="2560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使用AD域账号登录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60320" y="1280160"/>
            <a:ext cx="20116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2560320" y="1280160"/>
            <a:ext cx="20116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120" y="146304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65176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新建申请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2651760" y="2560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选择按需或最小包装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846320" y="1280160"/>
            <a:ext cx="20116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4846320" y="1280160"/>
            <a:ext cx="20116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1463040"/>
            <a:ext cx="640080" cy="6400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93776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填写物料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4937760" y="2560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输入工单号和物料信息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7132320" y="1280160"/>
            <a:ext cx="20116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7132320" y="1280160"/>
            <a:ext cx="20116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0" y="1463040"/>
            <a:ext cx="640080" cy="6400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22376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提交等待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7223760" y="2560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提交流程，等待审批/备料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0"/>
          <p:cNvSpPr/>
          <p:nvPr/>
        </p:nvSpPr>
        <p:spPr>
          <a:xfrm>
            <a:off x="640080" y="3886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关键区别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64008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按需物料：需主管审批 → 主管邮箱审批通过 → 仓库备料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最小包装：提交即进入待备料状态 → 仓库直接备料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7160"/>
            <a:ext cx="4572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系统收益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57200" y="118872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流程标准化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463040" y="1828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物料领取全过程数字化、规范化，告别纸质单据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0" y="11887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572000" y="118872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55448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7784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效率提升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5577840" y="1828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审批在线化、备料任务化，减少等待时间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283464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457200" y="283464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200400"/>
            <a:ext cx="548640" cy="5486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全程追踪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463040" y="3474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每一步操作都有日志记录，责任清晰可追溯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572000" y="283464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4572000" y="283464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320040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57784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库存优化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5577840" y="3474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FIFO批次管理帮助提高库存周转效率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0"/>
          </a:xfrm>
          <a:prstGeom prst="rect">
            <a:avLst/>
          </a:prstGeom>
          <a:solidFill>
            <a:srgbClr val="0D47A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7315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 &amp; Answers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BC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0D47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 Group | 物料领取看板系统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279</Words>
  <Application>Microsoft Office PowerPoint</Application>
  <PresentationFormat>On-screen Show (16:9)</PresentationFormat>
  <Paragraphs>120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物料领取看板系统 - 培训材料</dc:title>
  <dc:subject>PptxGenJS Presentation</dc:subject>
  <dc:creator>Material Kanban System</dc:creator>
  <cp:lastModifiedBy>Jason Pang</cp:lastModifiedBy>
  <cp:revision>23</cp:revision>
  <dcterms:created xsi:type="dcterms:W3CDTF">2026-06-23T07:21:10Z</dcterms:created>
  <dcterms:modified xsi:type="dcterms:W3CDTF">2026-06-25T02:42:21Z</dcterms:modified>
</cp:coreProperties>
</file>